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96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8133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5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1463040"/>
            <a:ext cx="914400" cy="384048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2194560"/>
            <a:ext cx="914400" cy="310896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81360" y="914400"/>
            <a:ext cx="914400" cy="4389120"/>
          </a:xfrm>
          <a:prstGeom prst="rect">
            <a:avLst/>
          </a:prstGeom>
          <a:solidFill>
            <a:srgbClr val="A8C09A"/>
          </a:solidFill>
          <a:ln w="12700">
            <a:solidFill>
              <a:srgbClr val="A8C0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23960" y="169164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3960" y="219456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23960" y="269748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23960" y="320040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23960" y="370332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23960" y="420624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23960" y="470916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21240" y="246888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21240" y="297180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1240" y="347472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21240" y="397764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21240" y="448056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18520" y="114300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018520" y="164592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018520" y="214884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018520" y="265176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018520" y="315468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018520" y="365760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18520" y="416052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018520" y="4663440"/>
            <a:ext cx="640080" cy="16459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640080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640080"/>
            <a:ext cx="256032" cy="256032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914400"/>
            <a:ext cx="530352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640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80160" y="88696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Bosque Urbano · Tu hogar, en buenas manos.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· APLICACIONES EMPRESARIALES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242316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Sistema de Gestión de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Accesos para una Unidad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Habitacional</a:t>
            </a:r>
            <a:endParaRPr lang="en-US" sz="4800" dirty="0"/>
          </a:p>
        </p:txBody>
      </p:sp>
      <p:sp>
        <p:nvSpPr>
          <p:cNvPr id="32" name="Text 30"/>
          <p:cNvSpPr/>
          <p:nvPr/>
        </p:nvSpPr>
        <p:spPr>
          <a:xfrm>
            <a:off x="640080" y="5212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REST en .NET 10 + Front-end MVC + SQL Server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40080" y="5852160"/>
            <a:ext cx="548640" cy="54864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Alejandra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" cy="201168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411480"/>
            <a:ext cx="201168" cy="201168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0936"/>
            <a:ext cx="420624" cy="457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4A3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557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• Aplicaciones Empresariales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El problema que resuelve UHabitacional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una unidad habitacional, el control de accesos suele ser manual: cuadernos, hojas sueltas y verificación de identidad lenta.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38328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digitaliza el flujo end-to-end: el vigilante registra al visitante, el inquilino consulta su historial y el administrador gestiona el padrón completo de la unidad.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5120640"/>
            <a:ext cx="201168" cy="201168"/>
          </a:xfrm>
          <a:prstGeom prst="ellipse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074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Administrador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5074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Gestiona inquilinos, edificios, departamentos y catálogos.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5532120"/>
            <a:ext cx="201168" cy="201168"/>
          </a:xfrm>
          <a:prstGeom prst="ellipse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54864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Inquilino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331720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 sus visitantes y bitácoras del departamento.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5943600"/>
            <a:ext cx="201168" cy="201168"/>
          </a:xfrm>
          <a:prstGeom prst="ellipse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8978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Vigilante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31720" y="58978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Registra visitantes y verifica accesos en tiempo real.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58000" y="2331720"/>
            <a:ext cx="4846320" cy="39319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0" y="2560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 del proyecto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0" y="29718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Construir una solución empresarial completa en .NET que aplique los conceptos del diplomado: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32320" y="397764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Arquitectura limpia por capas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REST con .NET 10 + EF Core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Autenticación JWT con validación de sesión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Front-end ASP.NET Core MVC consumiendo la API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Scripts SQL Server reproducibles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· Sistema de Gestión de Accesos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" cy="201168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411480"/>
            <a:ext cx="201168" cy="201168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0936"/>
            <a:ext cx="420624" cy="457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4A3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557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• Aplicaciones Empresariales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SOLUCIÓN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Estructura general de la solución (.slnx)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112471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468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UHabitacional.slnx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788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Studio Solution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246120"/>
            <a:ext cx="3337560" cy="2788920"/>
          </a:xfrm>
          <a:prstGeom prst="rect">
            <a:avLst/>
          </a:prstGeom>
          <a:solidFill>
            <a:srgbClr val="FBFAF7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3246120"/>
            <a:ext cx="3337560" cy="73152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2D4A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BACK-END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6012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UHabitacional.API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0120" y="4041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10 · EF Core · JWT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120" y="44348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Arquitectura limpia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Domain / Application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/ API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Swagger OpenAPI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34840" y="3246120"/>
            <a:ext cx="3337560" cy="2788920"/>
          </a:xfrm>
          <a:prstGeom prst="rect">
            <a:avLst/>
          </a:prstGeom>
          <a:solidFill>
            <a:srgbClr val="FBFAF7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34840" y="3246120"/>
            <a:ext cx="3337560" cy="73152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FRONT-END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344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UHabitacional.MVC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663440" y="4041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ASP.NET Core MVC · Razor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3440" y="44348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Cliente HttpClient tipado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Sesión cookie + JWT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Identidad Bosque Urbano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Vistas por rol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3246120"/>
            <a:ext cx="3337560" cy="2788920"/>
          </a:xfrm>
          <a:prstGeom prst="rect">
            <a:avLst/>
          </a:prstGeom>
          <a:solidFill>
            <a:srgbClr val="FBFAF7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3246120"/>
            <a:ext cx="3337560" cy="73152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F35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36676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Database (SQL Server)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366760" y="4041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Scripts T-SQL ejecutables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66760" y="44348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+ Seed + Drop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tablas (incluye Sesion)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00_RunAll.sql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Migración incremental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· Sistema de Gestión de Accesos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" cy="201168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411480"/>
            <a:ext cx="201168" cy="201168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0936"/>
            <a:ext cx="420624" cy="457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4A3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557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• Aplicaciones Empresariales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ARQUITECTURA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Clean Architecture aplicada a UHabitacional.API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502920" y="2377440"/>
            <a:ext cx="26060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377440"/>
            <a:ext cx="2606040" cy="640080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871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Domain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324612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Entities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Exceptions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Constants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37560" y="2377440"/>
            <a:ext cx="26060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7560" y="2377440"/>
            <a:ext cx="2606040" cy="64008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4871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Application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20440" y="324612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DTOs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Interfaces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Helpers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72200" y="2377440"/>
            <a:ext cx="26060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2377440"/>
            <a:ext cx="2606040" cy="640080"/>
          </a:xfrm>
          <a:prstGeom prst="rect">
            <a:avLst/>
          </a:prstGeom>
          <a:solidFill>
            <a:srgbClr val="A8C09A"/>
          </a:solidFill>
          <a:ln w="12700">
            <a:solidFill>
              <a:srgbClr val="A8C0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24871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Infrastructure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55080" y="324612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DbContext (EF Core)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Repositories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JwtSettings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CurrentUserService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06840" y="2377440"/>
            <a:ext cx="26060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06840" y="2377440"/>
            <a:ext cx="2606040" cy="64008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0" y="24871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API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89720" y="324612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Middleware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Program.cs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Swagger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Dependencias →  apuntan siempre hacia el Domain (núcleo del negocio)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· Sistema de Gestión de Accesos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" cy="201168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411480"/>
            <a:ext cx="201168" cy="201168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0936"/>
            <a:ext cx="420624" cy="457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4A3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557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• Aplicaciones Empresariales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DATOS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 entidades del dominio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3703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31720"/>
            <a:ext cx="91440" cy="114300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68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24414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Usuario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28803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Cuenta del sistema (admin / inquilino / vigilante)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97680" y="2331720"/>
            <a:ext cx="3703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2331720"/>
            <a:ext cx="91440" cy="114300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468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4414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TipoUsuario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28803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 o perfil asignado a cada usuario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138160" y="2331720"/>
            <a:ext cx="3703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2331720"/>
            <a:ext cx="91440" cy="114300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2468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0" y="24414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Identificacion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869680" y="28803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Catálogo de IDs (INE, pasaporte, licencia…)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639312"/>
            <a:ext cx="3703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639312"/>
            <a:ext cx="91440" cy="114300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77647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88720" y="3749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Edificio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88720" y="41879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Edificio dentro de la unidad habitacional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97680" y="3639312"/>
            <a:ext cx="3703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97680" y="3639312"/>
            <a:ext cx="91440" cy="114300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0" y="377647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0" y="3749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Departamento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029200" y="41879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Departamento perteneciente a un edificio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38160" y="3639312"/>
            <a:ext cx="3703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38160" y="3639312"/>
            <a:ext cx="91440" cy="114300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66760" y="377647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869680" y="3749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Inquilino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869680" y="41879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 que habita un departamento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4946904"/>
            <a:ext cx="3703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4946904"/>
            <a:ext cx="91440" cy="114300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08406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88720" y="505663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BitacoraVisitante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188720" y="549554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Registro de entrada / salida de visitantes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297680" y="4946904"/>
            <a:ext cx="3703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7680" y="4946904"/>
            <a:ext cx="91440" cy="114300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26280" y="508406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29200" y="505663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BitacoraVigilante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029200" y="549554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Bitácora de turnos del personal de vigilancia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138160" y="4946904"/>
            <a:ext cx="3703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38160" y="4946904"/>
            <a:ext cx="91440" cy="114300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366760" y="508406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869680" y="505663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Sesion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8869680" y="549554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Sesiones activas (JWT validado contra BD)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· Sistema de Gestión de Accesos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" cy="201168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411480"/>
            <a:ext cx="201168" cy="201168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0936"/>
            <a:ext cx="420624" cy="457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4A3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557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• Aplicaciones Empresariales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Tecnologías utilizadas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532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4231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.NET 10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27889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 de la plataforma (API y MVC)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2331720"/>
            <a:ext cx="5532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2532888"/>
            <a:ext cx="457200" cy="457200"/>
          </a:xfrm>
          <a:prstGeom prst="ellipse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49440" y="24231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Entity Framework Core 10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49440" y="27889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ORM con Code-First sobre SQL Server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5532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538728"/>
            <a:ext cx="457200" cy="457200"/>
          </a:xfrm>
          <a:prstGeom prst="ellipse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4290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SQL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37947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Motor relacional con scripts T-SQL versionados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72200" y="3337560"/>
            <a:ext cx="5532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5080" y="3538728"/>
            <a:ext cx="457200" cy="457200"/>
          </a:xfrm>
          <a:prstGeom prst="ellipse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49440" y="34290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JWT (Bearer)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49440" y="37947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Tokens firmados con validación de sesión en BD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4343400"/>
            <a:ext cx="5532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544568"/>
            <a:ext cx="457200" cy="457200"/>
          </a:xfrm>
          <a:prstGeom prst="ellipse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34440" y="44348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BCrypt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34440" y="48006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 seguro de contraseñas con salting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4343400"/>
            <a:ext cx="5532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55080" y="4544568"/>
            <a:ext cx="457200" cy="457200"/>
          </a:xfrm>
          <a:prstGeom prst="ellipse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5508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49440" y="44348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Swagger / OpenAPI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49440" y="48006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Documentación interactiva de la API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5349240"/>
            <a:ext cx="5532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5550408"/>
            <a:ext cx="457200" cy="457200"/>
          </a:xfrm>
          <a:prstGeom prst="ellipse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5550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234440" y="5440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ASP.NET Core MVC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234440" y="58064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Front-end con Razor + Tag Helpers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72200" y="5349240"/>
            <a:ext cx="5532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55080" y="5550408"/>
            <a:ext cx="457200" cy="457200"/>
          </a:xfrm>
          <a:prstGeom prst="ellipse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55080" y="5550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949440" y="5440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HttpClient tipado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949440" y="58064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Consumo del API desde la capa MVC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· Sistema de Gestión de Accesos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" cy="201168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411480"/>
            <a:ext cx="201168" cy="201168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0936"/>
            <a:ext cx="420624" cy="457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4A3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557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• Aplicaciones Empresariales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SEGURIDAD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Autenticación</a:t>
            </a: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3200" b="1" dirty="0" smtClean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</a:t>
            </a:r>
            <a:r>
              <a:rPr lang="en-US" sz="3200" b="1" dirty="0" smtClean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WT </a:t>
            </a: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 validación de sesión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21488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468880"/>
            <a:ext cx="2148840" cy="73152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6517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1. Login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30175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 + password validados con BCrypt.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0" y="29718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743200" y="2468880"/>
            <a:ext cx="21488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2468880"/>
            <a:ext cx="2148840" cy="73152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80360" y="26517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2. JWT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80360" y="30175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firmado HMAC con claims del usuario.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46320" y="29718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029200" y="2468880"/>
            <a:ext cx="21488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2468880"/>
            <a:ext cx="2148840" cy="73152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66360" y="26517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3. Sesion BD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30175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registra el JWT en la tabla Sesion.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132320" y="29718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315200" y="2468880"/>
            <a:ext cx="21488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0" y="2468880"/>
            <a:ext cx="2148840" cy="73152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52360" y="26517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4. Middleware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52360" y="30175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request valida token + sesión activa.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418320" y="29718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601200" y="2468880"/>
            <a:ext cx="21488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01200" y="2468880"/>
            <a:ext cx="2148840" cy="73152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38360" y="26517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5. Recurso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38360" y="30175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Acceso autorizado según rol y endpoint.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434840"/>
            <a:ext cx="11247120" cy="169164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72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Componentes de seguridad implementados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" y="493776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AuthService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5800" y="519379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Login / Logout / refresh de sesión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43400" y="493776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JwtSettings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43400" y="519379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Secret, issuer y expiración configurables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001000" y="493776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CurrentUserService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001000" y="519379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Lee claims del request en curso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85800" y="55321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SessionValidationMiddleware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85800" y="578815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Invalida tokens sin sesión activa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343400" y="55321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ExceptionHandlingMiddleware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343400" y="578815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Respuestas HTTP consistentes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001000" y="55321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BCrypt.Net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001000" y="578815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 con sal para contraseñas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· Sistema de Gestión de Accesos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" cy="201168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411480"/>
            <a:ext cx="201168" cy="201168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0936"/>
            <a:ext cx="420624" cy="457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4A3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557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• Aplicaciones Empresariales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REST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Controladores y endpoints expuestos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11247120" cy="362102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CONTROLADOR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RUTA BASE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RESPONSABILIDAD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4A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AuthController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/api/auth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Login, logout y emisión de JWT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SesionController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/api/sesion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Consulta y revocación de sesiones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UsuariosController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/api/usuarios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Alta y administración de usuarios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TiposUsuarioController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/api/tipos-usuario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Catálogo de roles del sistema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IdentificacionesController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/api/identificaciones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Catálogo de tipos de identificación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EdificiosController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/api/edificios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CRUD de edificios de la unidad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DepartamentosController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/api/departamentos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CRUD de departamentos por edificio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InquilinosController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/api/inquilinos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Padrón de inquilinos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BitacoraVisitanteController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/api/bitacora-visitante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Registro y consulta de visitas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BitacoraVigilanteController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/api/bitacora-vigilante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Bitácora de turnos de vigilancia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· Sistema de Gestión de Accesos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" cy="201168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411480"/>
            <a:ext cx="201168" cy="201168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0936"/>
            <a:ext cx="420624" cy="457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4A3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557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• Aplicaciones Empresariales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FRONT-END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UHabitacional.MVC — vistas por rol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front-end es un proyecto ASP.NET Core MVC que consume exclusivamente la API. No accede a la base de datos.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sesión vive en una cookie del navegador y guarda el JWT obtenido del login. Cada controlador aplica el atributo [AuthorizeRole] para filtrar por perfil.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1148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IDENTIDAD GRÁFICA · BOSQUE URBANO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4434840"/>
            <a:ext cx="914400" cy="548640"/>
          </a:xfrm>
          <a:prstGeom prst="rect">
            <a:avLst/>
          </a:prstGeom>
          <a:solidFill>
            <a:srgbClr val="2D4A3E"/>
          </a:solidFill>
          <a:ln w="6350">
            <a:solidFill>
              <a:srgbClr val="D9D5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52303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#2D4A3E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508760" y="4434840"/>
            <a:ext cx="914400" cy="548640"/>
          </a:xfrm>
          <a:prstGeom prst="rect">
            <a:avLst/>
          </a:prstGeom>
          <a:solidFill>
            <a:srgbClr val="CB6843"/>
          </a:solidFill>
          <a:ln w="6350">
            <a:solidFill>
              <a:srgbClr val="D9D5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508760" y="52303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#CB6843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560320" y="4434840"/>
            <a:ext cx="914400" cy="548640"/>
          </a:xfrm>
          <a:prstGeom prst="rect">
            <a:avLst/>
          </a:prstGeom>
          <a:solidFill>
            <a:srgbClr val="A8C09A"/>
          </a:solidFill>
          <a:ln w="6350">
            <a:solidFill>
              <a:srgbClr val="D9D5C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60320" y="52303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#A8C09A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11880" y="4434840"/>
            <a:ext cx="914400" cy="548640"/>
          </a:xfrm>
          <a:prstGeom prst="rect">
            <a:avLst/>
          </a:prstGeom>
          <a:solidFill>
            <a:srgbClr val="FBFAF7"/>
          </a:solidFill>
          <a:ln w="6350">
            <a:solidFill>
              <a:srgbClr val="D9D5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11880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11880" y="52303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#FBFAF7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4434840"/>
            <a:ext cx="914400" cy="548640"/>
          </a:xfrm>
          <a:prstGeom prst="rect">
            <a:avLst/>
          </a:prstGeom>
          <a:solidFill>
            <a:srgbClr val="1A1A1A"/>
          </a:solidFill>
          <a:ln w="6350">
            <a:solidFill>
              <a:srgbClr val="D9D5C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63440" y="52303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#1A1A1A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7200" y="5577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Tipografía: Plus Jakarta Sans (UI) + Inter (datos)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56692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35040" y="2331720"/>
            <a:ext cx="109728" cy="128016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4414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Administrador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09360" y="283464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Vistas: Vigilantes · Inquilinos · Departamentos · Edificios · Perfiles · Identificaciones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3749040"/>
            <a:ext cx="56692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35040" y="3749040"/>
            <a:ext cx="109728" cy="128016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385876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Inquilino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309360" y="42519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Vistas: Mis visitantes · Detalle de visita · Registrar visitante esperado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035040" y="5166360"/>
            <a:ext cx="56692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35040" y="5166360"/>
            <a:ext cx="109728" cy="1280160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527608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Vigilante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09360" y="56692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Vistas: Checador de accesos · Registro de visitante presencial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· Sistema de Gestión de Accesos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" cy="201168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411480"/>
            <a:ext cx="201168" cy="201168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0936"/>
            <a:ext cx="420624" cy="457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4A3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557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• Aplicaciones Empresariales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DE DATOS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Scripts T-SQL versionados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669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31720"/>
            <a:ext cx="73152" cy="41148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5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00_RunAll.sql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6324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Instalación completa en un solo paso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5669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834640"/>
            <a:ext cx="73152" cy="41148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5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01_CreateDatabase.sql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6324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 la base UnidadHabitacionalDB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337560"/>
            <a:ext cx="5669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37560"/>
            <a:ext cx="73152" cy="41148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383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5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02_CreateTables.sql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63240" y="3383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tablas con PK, FK y constraints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5669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840480"/>
            <a:ext cx="73152" cy="41148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5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03_SeedData.sql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63240" y="3886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 semilla (admin, catálogos)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343400"/>
            <a:ext cx="5669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343400"/>
            <a:ext cx="73152" cy="41148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389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5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04_DropDatabase.sql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63240" y="4389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Limpieza completa para reinstalar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4846320"/>
            <a:ext cx="5669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846320"/>
            <a:ext cx="73152" cy="41148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5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05_AddSesionTable.sql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063240" y="4892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Migración incremental de Sesion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00800" y="2331720"/>
            <a:ext cx="5303520" cy="3291840"/>
          </a:xfrm>
          <a:prstGeom prst="rect">
            <a:avLst/>
          </a:prstGeom>
          <a:solidFill>
            <a:srgbClr val="1F3528"/>
          </a:solidFill>
          <a:ln w="12700">
            <a:solidFill>
              <a:srgbClr val="1F352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29400" y="2514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INSTALACIÓN NUEVA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629400" y="2834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sqlcmd -S localhost\SQLEXPRESS -E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-i Database\00_RunAll.sql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629400" y="3840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ACTUALIZACIÓN DE BD EXISTENTE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41605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sqlcmd -S localhost\SQLEXPRESS -E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-d UnidadHabitacionalDB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-i Database\05_AddSesionTable.sql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Cadena de conexión por defecto: Server=localhost\SQLEXPRESS; Database=UnidadHabitacionalDB; Trusted_Connection=True;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· Sistema de Gestión de Accesos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01168" cy="201168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411480"/>
            <a:ext cx="201168" cy="201168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0936"/>
            <a:ext cx="420624" cy="4572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4A3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UHabitacional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557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Diplomado .NET • Aplicaciones Empresariales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PUESTA EN MARCHA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Cómo ejecutar la solución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280160" y="2331720"/>
            <a:ext cx="104241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 de datos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423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Ejecutar 00_RunAll.sql en SQL Server (SSMS o sqlcmd).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640080" cy="640080"/>
          </a:xfrm>
          <a:prstGeom prst="ellipse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280160" y="3108960"/>
            <a:ext cx="104241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6304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 UHabitacional.API → dotnet restore → dotnet run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640080" cy="640080"/>
          </a:xfrm>
          <a:prstGeom prst="ellipse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886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280160" y="3886200"/>
            <a:ext cx="104241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63040" y="3977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Swagger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40480" y="3977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Abrir http://localhost:5000/swagger para probar los endpoints.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640080" cy="640080"/>
          </a:xfrm>
          <a:prstGeom prst="ellipse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663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280160" y="4663440"/>
            <a:ext cx="104241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6304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MVC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840480" y="4754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 UHabitacional.MVC → dotnet run y abrir el navegador.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5440680"/>
            <a:ext cx="640080" cy="640080"/>
          </a:xfrm>
          <a:prstGeom prst="ellipse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5440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1280160" y="5440680"/>
            <a:ext cx="104241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63040" y="5532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5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Login inicial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840480" y="5532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admin@uhabitacional.com / Admin123!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UHabitacional · Sistema de Gestión de Accesos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E6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5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B6843"/>
          </a:solidFill>
          <a:ln w="12700">
            <a:solidFill>
              <a:srgbClr val="CB68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CB68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APRENDIZAJES DEL DIPLOMADO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1600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 la teoría a una aplicación empresarial real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914400" y="3520440"/>
            <a:ext cx="5120640" cy="109728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520440"/>
            <a:ext cx="5120640" cy="54864"/>
          </a:xfrm>
          <a:prstGeom prst="rect">
            <a:avLst/>
          </a:prstGeom>
          <a:solidFill>
            <a:srgbClr val="A8C09A"/>
          </a:solidFill>
          <a:ln w="12700">
            <a:solidFill>
              <a:srgbClr val="A8C0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6850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Arquitectura limpia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40690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Separación clara entre dominio, aplicación, infraestructura y presentación.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3520440"/>
            <a:ext cx="5120640" cy="109728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520440"/>
            <a:ext cx="5120640" cy="54864"/>
          </a:xfrm>
          <a:prstGeom prst="rect">
            <a:avLst/>
          </a:prstGeom>
          <a:solidFill>
            <a:srgbClr val="A8C09A"/>
          </a:solidFill>
          <a:ln w="12700">
            <a:solidFill>
              <a:srgbClr val="A8C0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36850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API REST profesional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37960" y="40690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Versionada, documentada con Swagger y con manejo de errores consistente.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800600"/>
            <a:ext cx="5120640" cy="109728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800600"/>
            <a:ext cx="5120640" cy="54864"/>
          </a:xfrm>
          <a:prstGeom prst="rect">
            <a:avLst/>
          </a:prstGeom>
          <a:solidFill>
            <a:srgbClr val="A8C09A"/>
          </a:solidFill>
          <a:ln w="12700">
            <a:solidFill>
              <a:srgbClr val="A8C0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49651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Seguridad real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43000" y="53492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firmado, sesión validada en BD y hashing de contraseñas con BCrypt.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309360" y="4800600"/>
            <a:ext cx="5120640" cy="1097280"/>
          </a:xfrm>
          <a:prstGeom prst="rect">
            <a:avLst/>
          </a:prstGeom>
          <a:solidFill>
            <a:srgbClr val="2D4A3E"/>
          </a:solidFill>
          <a:ln w="12700">
            <a:solidFill>
              <a:srgbClr val="2D4A3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4800600"/>
            <a:ext cx="5120640" cy="54864"/>
          </a:xfrm>
          <a:prstGeom prst="rect">
            <a:avLst/>
          </a:prstGeom>
          <a:solidFill>
            <a:srgbClr val="A8C09A"/>
          </a:solidFill>
          <a:ln w="12700">
            <a:solidFill>
              <a:srgbClr val="A8C0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9651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Full-stack .NET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37960" y="53492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API y un front-end MVC que comparten contratos y se despliegan juntos.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5943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¡Gracias!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486400" y="6035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 smtClean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Alejandra </a:t>
            </a:r>
            <a:r>
              <a:rPr lang="en-US" sz="1100" smtClean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Escobar Rodríguez </a:t>
            </a:r>
            <a:r>
              <a:rPr lang="en-US" sz="1100" dirty="0">
                <a:solidFill>
                  <a:srgbClr val="A8C0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Diplomado .NET — Aplicaciones Empresariales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1192</Words>
  <Application>Microsoft Office PowerPoint</Application>
  <PresentationFormat>Panorámica</PresentationFormat>
  <Paragraphs>316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Arial</vt:lpstr>
      <vt:lpstr>Calibri</vt:lpstr>
      <vt:lpstr>Courier New</vt:lpstr>
      <vt:lpstr>Inter</vt:lpstr>
      <vt:lpstr>Plus Jakarta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UHabitacional - Sistema de Gestión de Accesos</dc:title>
  <dc:subject>Diplomado .NET Aplicaciones Empresariales</dc:subject>
  <dc:creator>Alejandra</dc:creator>
  <cp:lastModifiedBy>alejandra escobar rodriguez</cp:lastModifiedBy>
  <cp:revision>2</cp:revision>
  <dcterms:created xsi:type="dcterms:W3CDTF">2026-05-26T06:15:26Z</dcterms:created>
  <dcterms:modified xsi:type="dcterms:W3CDTF">2026-05-26T06:18:54Z</dcterms:modified>
</cp:coreProperties>
</file>