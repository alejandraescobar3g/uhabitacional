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96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813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1463040"/>
            <a:ext cx="914400" cy="3840480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2194560"/>
            <a:ext cx="914400" cy="3108960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914400"/>
            <a:ext cx="914400" cy="4389120"/>
          </a:xfrm>
          <a:prstGeom prst="rect">
            <a:avLst/>
          </a:prstGeom>
          <a:solidFill>
            <a:srgbClr val="A8C09A"/>
          </a:solidFill>
          <a:ln w="12700">
            <a:solidFill>
              <a:srgbClr val="A8C0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23960" y="1691640"/>
            <a:ext cx="640080" cy="164592"/>
          </a:xfrm>
          <a:prstGeom prst="rect">
            <a:avLst/>
          </a:prstGeom>
          <a:solidFill>
            <a:srgbClr val="1F3528"/>
          </a:solidFill>
          <a:ln w="12700">
            <a:solidFill>
              <a:srgbClr val="1F35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23960" y="2194560"/>
            <a:ext cx="640080" cy="164592"/>
          </a:xfrm>
          <a:prstGeom prst="rect">
            <a:avLst/>
          </a:prstGeom>
          <a:solidFill>
            <a:srgbClr val="1F3528"/>
          </a:solidFill>
          <a:ln w="12700">
            <a:solidFill>
              <a:srgbClr val="1F35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23960" y="2697480"/>
            <a:ext cx="640080" cy="164592"/>
          </a:xfrm>
          <a:prstGeom prst="rect">
            <a:avLst/>
          </a:prstGeom>
          <a:solidFill>
            <a:srgbClr val="1F3528"/>
          </a:solidFill>
          <a:ln w="12700">
            <a:solidFill>
              <a:srgbClr val="1F35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23960" y="3200400"/>
            <a:ext cx="640080" cy="164592"/>
          </a:xfrm>
          <a:prstGeom prst="rect">
            <a:avLst/>
          </a:prstGeom>
          <a:solidFill>
            <a:srgbClr val="1F3528"/>
          </a:solidFill>
          <a:ln w="12700">
            <a:solidFill>
              <a:srgbClr val="1F35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23960" y="3703320"/>
            <a:ext cx="640080" cy="164592"/>
          </a:xfrm>
          <a:prstGeom prst="rect">
            <a:avLst/>
          </a:prstGeom>
          <a:solidFill>
            <a:srgbClr val="1F3528"/>
          </a:solidFill>
          <a:ln w="12700">
            <a:solidFill>
              <a:srgbClr val="1F35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23960" y="4206240"/>
            <a:ext cx="640080" cy="164592"/>
          </a:xfrm>
          <a:prstGeom prst="rect">
            <a:avLst/>
          </a:prstGeom>
          <a:solidFill>
            <a:srgbClr val="1F3528"/>
          </a:solidFill>
          <a:ln w="12700">
            <a:solidFill>
              <a:srgbClr val="1F35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23960" y="4709160"/>
            <a:ext cx="640080" cy="164592"/>
          </a:xfrm>
          <a:prstGeom prst="rect">
            <a:avLst/>
          </a:prstGeom>
          <a:solidFill>
            <a:srgbClr val="1F3528"/>
          </a:solidFill>
          <a:ln w="12700">
            <a:solidFill>
              <a:srgbClr val="1F35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21240" y="2468880"/>
            <a:ext cx="640080" cy="164592"/>
          </a:xfrm>
          <a:prstGeom prst="rect">
            <a:avLst/>
          </a:prstGeom>
          <a:solidFill>
            <a:srgbClr val="1F3528"/>
          </a:solidFill>
          <a:ln w="12700">
            <a:solidFill>
              <a:srgbClr val="1F35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21240" y="2971800"/>
            <a:ext cx="640080" cy="164592"/>
          </a:xfrm>
          <a:prstGeom prst="rect">
            <a:avLst/>
          </a:prstGeom>
          <a:solidFill>
            <a:srgbClr val="1F3528"/>
          </a:solidFill>
          <a:ln w="12700">
            <a:solidFill>
              <a:srgbClr val="1F35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921240" y="3474720"/>
            <a:ext cx="640080" cy="164592"/>
          </a:xfrm>
          <a:prstGeom prst="rect">
            <a:avLst/>
          </a:prstGeom>
          <a:solidFill>
            <a:srgbClr val="1F3528"/>
          </a:solidFill>
          <a:ln w="12700">
            <a:solidFill>
              <a:srgbClr val="1F35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21240" y="3977640"/>
            <a:ext cx="640080" cy="164592"/>
          </a:xfrm>
          <a:prstGeom prst="rect">
            <a:avLst/>
          </a:prstGeom>
          <a:solidFill>
            <a:srgbClr val="1F3528"/>
          </a:solidFill>
          <a:ln w="12700">
            <a:solidFill>
              <a:srgbClr val="1F35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21240" y="4480560"/>
            <a:ext cx="640080" cy="164592"/>
          </a:xfrm>
          <a:prstGeom prst="rect">
            <a:avLst/>
          </a:prstGeom>
          <a:solidFill>
            <a:srgbClr val="1F3528"/>
          </a:solidFill>
          <a:ln w="12700">
            <a:solidFill>
              <a:srgbClr val="1F35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018520" y="1143000"/>
            <a:ext cx="640080" cy="164592"/>
          </a:xfrm>
          <a:prstGeom prst="rect">
            <a:avLst/>
          </a:prstGeom>
          <a:solidFill>
            <a:srgbClr val="1F3528"/>
          </a:solidFill>
          <a:ln w="12700">
            <a:solidFill>
              <a:srgbClr val="1F35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18520" y="1645920"/>
            <a:ext cx="640080" cy="164592"/>
          </a:xfrm>
          <a:prstGeom prst="rect">
            <a:avLst/>
          </a:prstGeom>
          <a:solidFill>
            <a:srgbClr val="1F3528"/>
          </a:solidFill>
          <a:ln w="12700">
            <a:solidFill>
              <a:srgbClr val="1F35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018520" y="2148840"/>
            <a:ext cx="640080" cy="164592"/>
          </a:xfrm>
          <a:prstGeom prst="rect">
            <a:avLst/>
          </a:prstGeom>
          <a:solidFill>
            <a:srgbClr val="1F3528"/>
          </a:solidFill>
          <a:ln w="12700">
            <a:solidFill>
              <a:srgbClr val="1F35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18520" y="2651760"/>
            <a:ext cx="640080" cy="164592"/>
          </a:xfrm>
          <a:prstGeom prst="rect">
            <a:avLst/>
          </a:prstGeom>
          <a:solidFill>
            <a:srgbClr val="1F3528"/>
          </a:solidFill>
          <a:ln w="12700">
            <a:solidFill>
              <a:srgbClr val="1F35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018520" y="3154680"/>
            <a:ext cx="640080" cy="164592"/>
          </a:xfrm>
          <a:prstGeom prst="rect">
            <a:avLst/>
          </a:prstGeom>
          <a:solidFill>
            <a:srgbClr val="1F3528"/>
          </a:solidFill>
          <a:ln w="12700">
            <a:solidFill>
              <a:srgbClr val="1F35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018520" y="3657600"/>
            <a:ext cx="640080" cy="164592"/>
          </a:xfrm>
          <a:prstGeom prst="rect">
            <a:avLst/>
          </a:prstGeom>
          <a:solidFill>
            <a:srgbClr val="1F3528"/>
          </a:solidFill>
          <a:ln w="12700">
            <a:solidFill>
              <a:srgbClr val="1F35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18520" y="4160520"/>
            <a:ext cx="640080" cy="164592"/>
          </a:xfrm>
          <a:prstGeom prst="rect">
            <a:avLst/>
          </a:prstGeom>
          <a:solidFill>
            <a:srgbClr val="1F3528"/>
          </a:solidFill>
          <a:ln w="12700">
            <a:solidFill>
              <a:srgbClr val="1F35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18520" y="4663440"/>
            <a:ext cx="640080" cy="164592"/>
          </a:xfrm>
          <a:prstGeom prst="rect">
            <a:avLst/>
          </a:prstGeom>
          <a:solidFill>
            <a:srgbClr val="1F3528"/>
          </a:solidFill>
          <a:ln w="12700">
            <a:solidFill>
              <a:srgbClr val="1F35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640080"/>
            <a:ext cx="256032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640080"/>
            <a:ext cx="256032" cy="256032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914400"/>
            <a:ext cx="530352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640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UHabitacional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8869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8C0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Bosque Urbano · Tu hogar, en buenas manos.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CB68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DIPLOMADO .NET · APLICACIONES EMPRESARIALES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242316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Sistema de Gestión de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Accesos para una Unidad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Habitacional</a:t>
            </a:r>
            <a:endParaRPr lang="en-US" sz="4800" dirty="0"/>
          </a:p>
        </p:txBody>
      </p:sp>
      <p:sp>
        <p:nvSpPr>
          <p:cNvPr id="32" name="Text 30"/>
          <p:cNvSpPr/>
          <p:nvPr/>
        </p:nvSpPr>
        <p:spPr>
          <a:xfrm>
            <a:off x="64008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C0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REST en .NET 10 + Front-end MVC + SQL Server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40080" y="5852160"/>
            <a:ext cx="548640" cy="54864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Alejandra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11480"/>
            <a:ext cx="201168" cy="201168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0936"/>
            <a:ext cx="420624" cy="45720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384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4A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UHabitacional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5577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Diplomado .NET • Aplicaciones Empresariales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B68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El problema que resuelve UHabitacional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una unidad habitacional, el control de accesos suele ser manual: cuadernos, hojas sueltas y verificación de identidad lenta.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UHabitacional digitaliza el flujo end-to-end: el vigilante registra al visitante, el inquilino consulta su historial y el administrador gestiona el padrón completo de la unidad.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5120640"/>
            <a:ext cx="201168" cy="201168"/>
          </a:xfrm>
          <a:prstGeom prst="ellipse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5074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Administrador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31720" y="5074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Gestiona inquilinos, edificios, departamentos y catálogos.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5532120"/>
            <a:ext cx="201168" cy="201168"/>
          </a:xfrm>
          <a:prstGeom prst="ellipse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48640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Inquilino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31720" y="5486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 sus visitantes y bitácoras del departamento.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5943600"/>
            <a:ext cx="201168" cy="201168"/>
          </a:xfrm>
          <a:prstGeom prst="ellipse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897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Vigilante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31720" y="5897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 visitantes y verifica accesos en tiempo real.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2331720"/>
            <a:ext cx="4846320" cy="3931920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2560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8C0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del proyecto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0" y="29718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Construir una solución empresarial completa en .NET que aplique los conceptos del diplomado: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3977640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 limpia por capas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REST con .NET 10 + EF Core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Autenticación JWT con validación de sesión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Front-end ASP.NET Core MVC consumiendo la API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Scripts SQL Server reproducibles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UHabitacional · Sistema de Gestión de Accesos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11480"/>
            <a:ext cx="201168" cy="201168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0936"/>
            <a:ext cx="420624" cy="45720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384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4A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UHabitacional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5577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Diplomado .NET • Aplicaciones Empresariales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B68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SOLUCIÓN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Estructura general de la solución (.slnx)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112471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68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5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UHabitacional.slnx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Studio Solution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3337560" cy="2788920"/>
          </a:xfrm>
          <a:prstGeom prst="rect">
            <a:avLst/>
          </a:prstGeom>
          <a:solidFill>
            <a:srgbClr val="FBFAF7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246120"/>
            <a:ext cx="3337560" cy="73152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D4A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BACK-END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UHabitacional.API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4041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.NET 10 · EF Core · JWT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44348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 limpia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 / Application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/ API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Swagger OpenAPI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34840" y="3246120"/>
            <a:ext cx="3337560" cy="2788920"/>
          </a:xfrm>
          <a:prstGeom prst="rect">
            <a:avLst/>
          </a:prstGeom>
          <a:solidFill>
            <a:srgbClr val="FBFAF7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0" y="3246120"/>
            <a:ext cx="3337560" cy="73152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B68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FRONT-END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6344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UHabitacional.MVC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63440" y="4041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ASP.NET Core MVC · Razor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44348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 err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</a:t>
            </a:r>
            <a:r>
              <a:rPr lang="en-US" sz="1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00" dirty="0" err="1" smtClean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HttpClient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Sesión cookie + </a:t>
            </a:r>
            <a:r>
              <a:rPr lang="en-US" sz="1100" dirty="0" smtClean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</a:t>
            </a: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 smtClean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Vistas </a:t>
            </a:r>
            <a:r>
              <a:rPr lang="en-US" sz="1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rol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3246120"/>
            <a:ext cx="3337560" cy="2788920"/>
          </a:xfrm>
          <a:prstGeom prst="rect">
            <a:avLst/>
          </a:prstGeom>
          <a:solidFill>
            <a:srgbClr val="FBFAF7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3246120"/>
            <a:ext cx="3337560" cy="73152"/>
          </a:xfrm>
          <a:prstGeom prst="rect">
            <a:avLst/>
          </a:prstGeom>
          <a:solidFill>
            <a:srgbClr val="1F3528"/>
          </a:solidFill>
          <a:ln w="12700">
            <a:solidFill>
              <a:srgbClr val="1F35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66760" y="3429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1F35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6676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Database (SQL Server)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366760" y="4041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Scripts T-SQL ejecutables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66760" y="44348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+ Seed + Drop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tablas (incluye </a:t>
            </a:r>
            <a:r>
              <a:rPr lang="en-US" sz="1100" dirty="0" err="1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Sesion</a:t>
            </a:r>
            <a:r>
              <a:rPr lang="en-US" sz="1100" dirty="0" smtClean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UHabitacional · Sistema de Gestión de Accesos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11480"/>
            <a:ext cx="201168" cy="201168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0936"/>
            <a:ext cx="420624" cy="45720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384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4A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UHabitacional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5577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Diplomado .NET • Aplicaciones Empresariales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B68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Clean Architecture aplicada a UHabitacional.API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02920" y="237744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377440"/>
            <a:ext cx="2606040" cy="640080"/>
          </a:xfrm>
          <a:prstGeom prst="rect">
            <a:avLst/>
          </a:prstGeom>
          <a:solidFill>
            <a:srgbClr val="1F3528"/>
          </a:solidFill>
          <a:ln w="12700">
            <a:solidFill>
              <a:srgbClr val="1F35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871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Domain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324612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Constants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237744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2377440"/>
            <a:ext cx="2606040" cy="640080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4871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Application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20440" y="324612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DTOs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237744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2377440"/>
            <a:ext cx="2606040" cy="640080"/>
          </a:xfrm>
          <a:prstGeom prst="rect">
            <a:avLst/>
          </a:prstGeom>
          <a:solidFill>
            <a:srgbClr val="A8C09A"/>
          </a:solidFill>
          <a:ln w="12700">
            <a:solidFill>
              <a:srgbClr val="A8C0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4871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Infrastructure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55080" y="324612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DbContext (EF Core)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JwtSettings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CurrentUserService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06840" y="2377440"/>
            <a:ext cx="260604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06840" y="2377440"/>
            <a:ext cx="2606040" cy="640080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0" y="2487168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API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89720" y="324612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Middleware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Program.cs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Swagger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59893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Dependencias →  apuntan siempre hacia el Domain (núcleo del negocio)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UHabitacional · Sistema de Gestión de Accesos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11480"/>
            <a:ext cx="201168" cy="201168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0936"/>
            <a:ext cx="420624" cy="45720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384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4A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UHabitacional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5577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Diplomado .NET • Aplicaciones Empresariales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B68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 DE DATOS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 entidades del dominio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703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31720"/>
            <a:ext cx="91440" cy="1143000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68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4414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Usuario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880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Cuenta del sistema (admin / inquilino / vigilante)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2331720"/>
            <a:ext cx="3703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2331720"/>
            <a:ext cx="91440" cy="1143000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2468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4414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TipoUsuario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0" y="2880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 o perfil asignado a cada usuario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38160" y="2331720"/>
            <a:ext cx="3703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2331720"/>
            <a:ext cx="91440" cy="1143000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66760" y="2468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0" y="24414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Identificacion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69680" y="2880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 de IDs (INE, pasaporte, licencia…)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39312"/>
            <a:ext cx="3703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639312"/>
            <a:ext cx="91440" cy="1143000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7764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3749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Edificio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41879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Edificio dentro de la unidad habitacional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97680" y="3639312"/>
            <a:ext cx="3703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97680" y="3639312"/>
            <a:ext cx="91440" cy="1143000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26280" y="37764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3749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Departamento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029200" y="41879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Departamento perteneciente a un edificio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138160" y="3639312"/>
            <a:ext cx="3703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3639312"/>
            <a:ext cx="91440" cy="1143000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66760" y="37764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869680" y="3749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Inquilino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69680" y="41879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 que habita un departamento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4946904"/>
            <a:ext cx="3703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946904"/>
            <a:ext cx="91440" cy="1143000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508406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88720" y="50566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BitacoraVisitante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88720" y="549554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de entrada / salida de visitantes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297680" y="4946904"/>
            <a:ext cx="3703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97680" y="4946904"/>
            <a:ext cx="91440" cy="1143000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26280" y="508406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0" y="50566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BitacoraVigilante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029200" y="549554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Bitácora de turnos del personal de vigilancia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138160" y="4946904"/>
            <a:ext cx="3703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38160" y="4946904"/>
            <a:ext cx="91440" cy="1143000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66760" y="508406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869680" y="50566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Sesion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869680" y="549554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Sesiones activas (JWT validado contra BD)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UHabitacional · Sistema de Gestión de Accesos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11480"/>
            <a:ext cx="201168" cy="201168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0936"/>
            <a:ext cx="420624" cy="45720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384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4A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UHabitacional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5577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Diplomado .NET • Aplicaciones Empresariales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B68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Tecnologías utilizadas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5532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4231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.NET 10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7889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de la plataforma (API y MVC)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2331720"/>
            <a:ext cx="5532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2532888"/>
            <a:ext cx="457200" cy="457200"/>
          </a:xfrm>
          <a:prstGeom prst="ellipse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49440" y="24231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Entity Framework Core 10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9440" y="278892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37560"/>
            <a:ext cx="5532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538728"/>
            <a:ext cx="457200" cy="457200"/>
          </a:xfrm>
          <a:prstGeom prst="ellipse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4290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SQL Server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37947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BD </a:t>
            </a: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relacional con scripts </a:t>
            </a:r>
            <a:r>
              <a:rPr lang="en-US" sz="1000" dirty="0" smtClean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T-SQL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3337560"/>
            <a:ext cx="5532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3538728"/>
            <a:ext cx="457200" cy="457200"/>
          </a:xfrm>
          <a:prstGeom prst="ellipse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34290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JWT (Bearer)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9440" y="379476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 </a:t>
            </a:r>
            <a:r>
              <a:rPr lang="en-US" sz="1000" dirty="0" smtClean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</a:t>
            </a: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validación de sesión en BD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343400"/>
            <a:ext cx="5532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" y="4544568"/>
            <a:ext cx="457200" cy="457200"/>
          </a:xfrm>
          <a:prstGeom prst="ellipse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34440" y="44348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</a:rPr>
              <a:t>Encriptado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34440" y="48006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Hash seguro de contraseñas con salting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4343400"/>
            <a:ext cx="5532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55080" y="4544568"/>
            <a:ext cx="457200" cy="457200"/>
          </a:xfrm>
          <a:prstGeom prst="ellipse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49440" y="44348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Swagger / OpenAPI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49440" y="48006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 smtClean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Documentación</a:t>
            </a:r>
            <a:r>
              <a:rPr lang="en-US" sz="1000" dirty="0" smtClean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API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5349240"/>
            <a:ext cx="5532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" y="5550408"/>
            <a:ext cx="457200" cy="457200"/>
          </a:xfrm>
          <a:prstGeom prst="ellipse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550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234440" y="54406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ASP.NET Core MVC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234440" y="58064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Front-end con </a:t>
            </a:r>
            <a:r>
              <a:rPr lang="en-US" sz="1000" dirty="0" smtClean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Razor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72200" y="5349240"/>
            <a:ext cx="5532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55080" y="5550408"/>
            <a:ext cx="457200" cy="457200"/>
          </a:xfrm>
          <a:prstGeom prst="ellipse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5550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949440" y="54406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HttpClient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949440" y="58064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Consumo del API desde la capa MVC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UHabitacional · Sistema de Gestión de Accesos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11480"/>
            <a:ext cx="201168" cy="201168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0936"/>
            <a:ext cx="420624" cy="45720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384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4A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UHabitacional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5577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Diplomado .NET • Aplicaciones Empresariales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B68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SEGURIDAD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Autenticación</a:t>
            </a:r>
            <a:r>
              <a:rPr lang="en-US" sz="32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3200" b="1" dirty="0" smtClean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JWT </a:t>
            </a:r>
            <a:r>
              <a:rPr lang="en-US" sz="32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 validación de sesión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2148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68880"/>
            <a:ext cx="2148840" cy="73152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517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1. Login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30175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+ password </a:t>
            </a:r>
            <a:r>
              <a:rPr lang="en-US" sz="1000" dirty="0" err="1" smtClean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validados</a:t>
            </a:r>
            <a:r>
              <a:rPr lang="en-US" sz="1000" dirty="0" smtClean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29718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68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2743200" y="2468880"/>
            <a:ext cx="2148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2468880"/>
            <a:ext cx="2148840" cy="73152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0360" y="26517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2. JWT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80360" y="30175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</a:t>
            </a:r>
            <a:r>
              <a:rPr lang="en-US" sz="1000" dirty="0" err="1" smtClean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firmado</a:t>
            </a:r>
            <a:r>
              <a:rPr lang="en-US" sz="1000" dirty="0" smtClean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9718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68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029200" y="2468880"/>
            <a:ext cx="2148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2468880"/>
            <a:ext cx="2148840" cy="73152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26517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3. Sesion BD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66360" y="30175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registra el JWT en la tabla Sesion.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32320" y="29718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68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7315200" y="2468880"/>
            <a:ext cx="2148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2468880"/>
            <a:ext cx="2148840" cy="73152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26517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4. Middleware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52360" y="30175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request valida token + sesión activa.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18320" y="29718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68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601200" y="2468880"/>
            <a:ext cx="21488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1200" y="2468880"/>
            <a:ext cx="2148840" cy="73152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38360" y="26517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5. Recurso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38360" y="301752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Acceso autorizado según rol y endpoint.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434840"/>
            <a:ext cx="11247120" cy="1691640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8C0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Componentes de seguridad implementados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" y="49377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AuthService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" y="51937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0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/ Logout / refresh de sesión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43400" y="49377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JwtSettings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43400" y="51937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smtClean="0">
                <a:solidFill>
                  <a:srgbClr val="A8C0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Secret y </a:t>
            </a:r>
            <a:r>
              <a:rPr lang="en-US" sz="900" dirty="0" err="1" smtClean="0">
                <a:solidFill>
                  <a:srgbClr val="A8C0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expiración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01000" y="493776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CurrentUserService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01000" y="51937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0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 claims del request en curso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5800" y="55321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SessionValidationMiddleware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5800" y="57881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0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Invalida tokens sin sesión activa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343400" y="55321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ExceptionHandlingMiddleware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343400" y="57881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0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Respuestas HTTP consistentes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UHabitacional · Sistema de Gestión de Accesos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11480"/>
            <a:ext cx="201168" cy="201168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0936"/>
            <a:ext cx="420624" cy="45720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384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4A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UHabitacional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5577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Diplomado .NET • Aplicaciones Empresariales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B68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REST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Controladores y endpoints expuestos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31720"/>
          <a:ext cx="11247120" cy="362102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CONTROLADOR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RUTA BASE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RESPONSABILIDAD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AuthController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/api/auth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Login, logout y emisión de JWT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SesionController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/api/sesion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Consulta y revocación de sesiones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UsuariosController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/api/usuarios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Alta y administración de usuarios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TiposUsuarioController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/api/tipos-usuario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Catálogo de roles del sistema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IdentificacionesController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/api/identificaciones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Catálogo de tipos de identificación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EdificiosController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/api/edificios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CRUD de edificios de la unidad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DepartamentosController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/api/departamentos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CRUD de departamentos por edificio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InquilinosController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/api/inquilinos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Padrón de inquilinos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BitacoraVisitanteController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/api/bitacora-visitante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Registro y consulta de visitas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BitacoraVigilanteController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/api/bitacora-vigilante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Bitácora de turnos de vigilancia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UHabitacional · Sistema de Gestión de Accesos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11480"/>
            <a:ext cx="201168" cy="201168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0936"/>
            <a:ext cx="420624" cy="45720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384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4A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UHabitacional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5577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Diplomado .NET • Aplicaciones Empresariales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B68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FRONT-END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UHabitacional.MVC — vistas por rol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front-end es un proyecto ASP.NET Core MVC que consume exclusivamente la API. No accede a la base de datos.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sesión vive en una cookie del navegador y guarda el JWT obtenido del login. Cada controlador aplica el atributo [AuthorizeRole] para filtrar por perfil.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B68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IDENTIDAD GRÁFICA · BOSQUE URBANO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4434840"/>
            <a:ext cx="914400" cy="548640"/>
          </a:xfrm>
          <a:prstGeom prst="rect">
            <a:avLst/>
          </a:prstGeom>
          <a:solidFill>
            <a:srgbClr val="2D4A3E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5029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52303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#2D4A3E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508760" y="4434840"/>
            <a:ext cx="914400" cy="548640"/>
          </a:xfrm>
          <a:prstGeom prst="rect">
            <a:avLst/>
          </a:prstGeom>
          <a:solidFill>
            <a:srgbClr val="CB6843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08760" y="5029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08760" y="52303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#CB6843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60320" y="4434840"/>
            <a:ext cx="914400" cy="548640"/>
          </a:xfrm>
          <a:prstGeom prst="rect">
            <a:avLst/>
          </a:prstGeom>
          <a:solidFill>
            <a:srgbClr val="A8C09A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5029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Soft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0" y="52303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#A8C09A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11880" y="4434840"/>
            <a:ext cx="914400" cy="548640"/>
          </a:xfrm>
          <a:prstGeom prst="rect">
            <a:avLst/>
          </a:prstGeom>
          <a:solidFill>
            <a:srgbClr val="FBFAF7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5029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11880" y="52303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#FBFAF7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4434840"/>
            <a:ext cx="914400" cy="548640"/>
          </a:xfrm>
          <a:prstGeom prst="rect">
            <a:avLst/>
          </a:prstGeom>
          <a:solidFill>
            <a:srgbClr val="1A1A1A"/>
          </a:solidFill>
          <a:ln w="6350">
            <a:solidFill>
              <a:srgbClr val="D9D5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5029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3440" y="523036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#1A1A1A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55778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Tipografía: Plus Jakarta Sans (UI) + Inter (datos)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2331720"/>
            <a:ext cx="5669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2331720"/>
            <a:ext cx="109728" cy="1280160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44144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Administrador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09360" y="28346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Vistas: Vigilantes · Inquilinos · Departamentos · Edificios · Perfiles · Identificaciones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35040" y="3749040"/>
            <a:ext cx="5669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3749040"/>
            <a:ext cx="109728" cy="1280160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38587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Inquilino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09360" y="42519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Vistas: Mis visitantes · Detalle de visita · Registrar visitante esperado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35040" y="5166360"/>
            <a:ext cx="5669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5166360"/>
            <a:ext cx="109728" cy="1280160"/>
          </a:xfrm>
          <a:prstGeom prst="rect">
            <a:avLst/>
          </a:prstGeom>
          <a:solidFill>
            <a:srgbClr val="1F3528"/>
          </a:solidFill>
          <a:ln w="12700">
            <a:solidFill>
              <a:srgbClr val="1F35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52760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Vigilante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309360" y="56692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Vistas: Checador de accesos · Registro de visitante presencial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UHabitacional · Sistema de Gestión de Accesos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01168" cy="201168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" y="411480"/>
            <a:ext cx="201168" cy="201168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0936"/>
            <a:ext cx="420624" cy="45720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384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4A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UHabitacional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55778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Diplomado .NET • Aplicaciones Empresariales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B68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PUESTA EN MARCHA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Cómo ejecutar la solución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57200" y="2432066"/>
            <a:ext cx="640080" cy="640080"/>
          </a:xfrm>
          <a:prstGeom prst="ellipse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3206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280160" y="2432066"/>
            <a:ext cx="10424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252350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252350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 UHabitacional.API → dotnet restore → dotnet run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09306"/>
            <a:ext cx="640080" cy="640080"/>
          </a:xfrm>
          <a:prstGeom prst="ellipse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0930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280160" y="3209306"/>
            <a:ext cx="10424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330074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Swagger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0" y="330074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Abrir http://localhost:5000/swagger para probar los endpoints.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86546"/>
            <a:ext cx="640080" cy="640080"/>
          </a:xfrm>
          <a:prstGeom prst="ellipse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8654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280160" y="3986546"/>
            <a:ext cx="10424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63040" y="407798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MVC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40480" y="407798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 UHabitacional.MVC → dotnet run y abrir el navegador.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763786"/>
            <a:ext cx="640080" cy="640080"/>
          </a:xfrm>
          <a:prstGeom prst="ellipse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6378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1280160" y="4763786"/>
            <a:ext cx="104241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5C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485522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52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Login inicial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840480" y="485522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admin@uhabitacional.com / Admin123!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UHabitacional · Sistema de Gestión de Accesos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33856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6E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CB6843"/>
          </a:solidFill>
          <a:ln w="12700">
            <a:solidFill>
              <a:srgbClr val="CB6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CB68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APRENDIZAJES DEL DIPLOMADO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 la teoría a una aplicación empresarial real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3520440"/>
            <a:ext cx="5120640" cy="1097280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520440"/>
            <a:ext cx="5120640" cy="54864"/>
          </a:xfrm>
          <a:prstGeom prst="rect">
            <a:avLst/>
          </a:prstGeom>
          <a:solidFill>
            <a:srgbClr val="A8C09A"/>
          </a:solidFill>
          <a:ln w="12700">
            <a:solidFill>
              <a:srgbClr val="A8C0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6850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Arquitectura limpia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40690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Separación clara entre dominio, aplicación, infraestructura y presentación.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3520440"/>
            <a:ext cx="5120640" cy="1097280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0" y="3520440"/>
            <a:ext cx="5120640" cy="54864"/>
          </a:xfrm>
          <a:prstGeom prst="rect">
            <a:avLst/>
          </a:prstGeom>
          <a:solidFill>
            <a:srgbClr val="A8C09A"/>
          </a:solidFill>
          <a:ln w="12700">
            <a:solidFill>
              <a:srgbClr val="A8C0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36850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API REST profesional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40690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Versionada, documentada con Swagger y con manejo de errores consistente.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4800600"/>
            <a:ext cx="5120640" cy="1097280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4800600"/>
            <a:ext cx="5120640" cy="54864"/>
          </a:xfrm>
          <a:prstGeom prst="rect">
            <a:avLst/>
          </a:prstGeom>
          <a:solidFill>
            <a:srgbClr val="A8C09A"/>
          </a:solidFill>
          <a:ln w="12700">
            <a:solidFill>
              <a:srgbClr val="A8C0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965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Seguridad real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5349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firmado, sesión validada en BD y hashing de </a:t>
            </a:r>
            <a:r>
              <a:rPr lang="en-US" sz="1100" dirty="0" err="1" smtClean="0">
                <a:solidFill>
                  <a:srgbClr val="A8C0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contraseñas</a:t>
            </a:r>
            <a:r>
              <a:rPr lang="en-US" sz="1100" dirty="0" smtClean="0">
                <a:solidFill>
                  <a:srgbClr val="A8C0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0" y="4800600"/>
            <a:ext cx="5120640" cy="1097280"/>
          </a:xfrm>
          <a:prstGeom prst="rect">
            <a:avLst/>
          </a:prstGeom>
          <a:solidFill>
            <a:srgbClr val="2D4A3E"/>
          </a:solidFill>
          <a:ln w="12700">
            <a:solidFill>
              <a:srgbClr val="2D4A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4800600"/>
            <a:ext cx="5120640" cy="54864"/>
          </a:xfrm>
          <a:prstGeom prst="rect">
            <a:avLst/>
          </a:prstGeom>
          <a:solidFill>
            <a:srgbClr val="A8C09A"/>
          </a:solidFill>
          <a:ln w="12700">
            <a:solidFill>
              <a:srgbClr val="A8C0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496519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Full-stack .NET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37960" y="5349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0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API y un front-end MVC que comparten contratos y se despliegan juntos.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5943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¡Gracias!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0" y="6035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 smtClean="0">
                <a:solidFill>
                  <a:srgbClr val="A8C0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Alejandra Escobar Rodríguez </a:t>
            </a:r>
            <a:r>
              <a:rPr lang="en-US" sz="1100" dirty="0">
                <a:solidFill>
                  <a:srgbClr val="A8C09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Diplomado .NET — Aplicaciones Empresariales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1039</Words>
  <Application>Microsoft Office PowerPoint</Application>
  <PresentationFormat>Panorámica</PresentationFormat>
  <Paragraphs>282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Inter</vt:lpstr>
      <vt:lpstr>Plus Jakarta Sans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UHabitacional - Sistema de Gestión de Accesos</dc:title>
  <dc:subject>Diplomado .NET Aplicaciones Empresariales</dc:subject>
  <dc:creator>Alejandra</dc:creator>
  <cp:lastModifiedBy>alejandra escobar rodriguez</cp:lastModifiedBy>
  <cp:revision>4</cp:revision>
  <dcterms:created xsi:type="dcterms:W3CDTF">2026-05-26T06:15:26Z</dcterms:created>
  <dcterms:modified xsi:type="dcterms:W3CDTF">2026-06-02T01:53:38Z</dcterms:modified>
</cp:coreProperties>
</file>